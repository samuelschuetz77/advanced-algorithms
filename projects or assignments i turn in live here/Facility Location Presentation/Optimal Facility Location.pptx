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ec1344dba34421" /><Relationship Type="http://schemas.openxmlformats.org/officeDocument/2006/relationships/extended-properties" Target="/docProps/app.xml" Id="Rde53184a50154cfc" /><Relationship Type="http://schemas.openxmlformats.org/officeDocument/2006/relationships/officeDocument" Target="/ppt/presentation.xml" Id="R6ed587d9d3cf4cfa" /></Relationships>
</file>

<file path=ppt/presentation.xml><?xml version="1.0" encoding="utf-8"?>
<p:presentation xmlns:p="http://schemas.openxmlformats.org/presentationml/2006/main">
  <p:sldMasterIdLst>
    <p:sldMasterId xmlns:r="http://schemas.openxmlformats.org/officeDocument/2006/relationships" id="2147483648" r:id="Rc392b16ecc2244d7"/>
  </p:sldMasterIdLst>
  <p:notesMasterIdLst>
    <p:notesMasterId xmlns:r="http://schemas.openxmlformats.org/officeDocument/2006/relationships" r:id="R96b213602ab94eb0"/>
  </p:notesMasterIdLst>
  <p:sldIdLst>
    <p:sldId xmlns:r="http://schemas.openxmlformats.org/officeDocument/2006/relationships" id="256" r:id="Rc740b124dc6a4785"/>
    <p:sldId xmlns:r="http://schemas.openxmlformats.org/officeDocument/2006/relationships" id="257" r:id="R110c40783c2c4c9f"/>
    <p:sldId xmlns:r="http://schemas.openxmlformats.org/officeDocument/2006/relationships" id="258" r:id="R645668da32e4418c"/>
    <p:sldId xmlns:r="http://schemas.openxmlformats.org/officeDocument/2006/relationships" id="259" r:id="R49748cde26a6441d"/>
    <p:sldId xmlns:r="http://schemas.openxmlformats.org/officeDocument/2006/relationships" id="260" r:id="Rf4abb10b6e8d49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57d07269894472" /><Relationship Type="http://schemas.openxmlformats.org/officeDocument/2006/relationships/slideMaster" Target="/ppt/slideMasters/slideMaster1.xml" Id="Rc392b16ecc2244d7" /><Relationship Type="http://schemas.openxmlformats.org/officeDocument/2006/relationships/notesMaster" Target="/ppt/notesMasters/notesMaster1.xml" Id="R96b213602ab94eb0" /><Relationship Type="http://schemas.openxmlformats.org/officeDocument/2006/relationships/presProps" Target="/ppt/presProps.xml" Id="Rb375d450190a45e2" /><Relationship Type="http://schemas.openxmlformats.org/officeDocument/2006/relationships/tableStyles" Target="/ppt/tableStyles.xml" Id="R77ec87b489044735" /><Relationship Type="http://schemas.openxmlformats.org/officeDocument/2006/relationships/slide" Target="/ppt/slides/slide1.xml" Id="Rc740b124dc6a4785" /><Relationship Type="http://schemas.openxmlformats.org/officeDocument/2006/relationships/slide" Target="/ppt/slides/slide2.xml" Id="R110c40783c2c4c9f" /><Relationship Type="http://schemas.openxmlformats.org/officeDocument/2006/relationships/slide" Target="/ppt/slides/slide3.xml" Id="R645668da32e4418c" /><Relationship Type="http://schemas.openxmlformats.org/officeDocument/2006/relationships/slide" Target="/ppt/slides/slide4.xml" Id="R49748cde26a6441d" /><Relationship Type="http://schemas.openxmlformats.org/officeDocument/2006/relationships/slide" Target="/ppt/slides/slide5.xml" Id="Rf4abb10b6e8d49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983167ff0f45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abc86832574211" /><Relationship Type="http://schemas.openxmlformats.org/officeDocument/2006/relationships/notesMaster" Target="/ppt/notesMasters/notesMaster1.xml" Id="R426e864e9b4948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164e05afeb452c" /><Relationship Type="http://schemas.openxmlformats.org/officeDocument/2006/relationships/notesMaster" Target="/ppt/notesMasters/notesMaster1.xml" Id="R9985a73830344f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5a963a39464164" /><Relationship Type="http://schemas.openxmlformats.org/officeDocument/2006/relationships/notesMaster" Target="/ppt/notesMasters/notesMaster1.xml" Id="R0f277e2a4fce4c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dcb58a069a4067" /><Relationship Type="http://schemas.openxmlformats.org/officeDocument/2006/relationships/notesMaster" Target="/ppt/notesMasters/notesMaster1.xml" Id="R10ceafbccf8c44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2505561d3f4780" /><Relationship Type="http://schemas.openxmlformats.org/officeDocument/2006/relationships/notesMaster" Target="/ppt/notesMasters/notesMaster1.xml" Id="Rcb1d40d5fe4a43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My problem is optimal facility location, applied to a sensor network. A facility is a station we activate. Location means choosing among possible sites. Optimal means the cheapest complete solution. There are two costs: activating a station, paid once, and serving each region from its assigned station. The decision question asks if the total fits a budget. Our model has nonnegative integer costs and no limit on how many regions one station can serve. These are fictional costs, not geographic distances.</a:t>
            </a:r>
          </a:p>
          <a:p xmlns:a="http://schemas.openxmlformats.org/drawingml/2006/main">
            <a:r>
              <a:t>Source: https://people.orie.cornell.edu/shmoys/or6334/PS1-Solutions.pdf</a:t>
            </a:r>
          </a:p>
          <a:p xmlns:a="http://schemas.openxmlformats.org/drawingml/2006/main">
            <a:r>
              <a:t>Assignment: https://snow.instructure.com/courses/1254074/assignments/19231790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Read the table across: A costs three to activate, and serving South from A adds nine. Zero means no extra service cost, not that the region is missing. The input includes these three sites, these costs, the three required regions, and budget six. Open C and assign every region to C. The total is six, so the answer is yes. A alone costs twelve, B alone thirteen, and A plus B costs seven. Adding any station to C increases the activation cost. C is therefore cheapest. Examples adapted from my original emailed presentation draft, September 30,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For the second input, raise C's activation cost to eight and set the budget to seven. Open A and B. Assign North and Central to A and South to B. Activation costs are three plus four, and all assigned service costs are zero. Total seven meets the budget. C alone costs eight. A alone is twelve and B alone thirteen. Other combinations cost more. A and B are cheapest. The best selection changes when the input changes. Examples adapted from my original emailed presentation draft, September 30,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A candidate gives the open stations and an assignment for each region, in North, Central, South order. I check station identifiers, count each opening only once, make sure every region has exactly one assignment, and verify that each assigned station is open. Then I add the costs. The first candidate passes at seven. A alone can serve South, but doing so costs nine extra, making twelve, so it fails this budget. Checking an answer establishes that it works within the budget. It does not establish that it is cheapest. Here s means candidate sites and r means required regions. With a membership array, verification takes O(s+r) arithmetic operations and table lookups. This count assumes constant-time arithmetic. Binary integer arithmetic adds polynomial factors.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Every site has two choices, open or closed, so s sites give two to the s subsets. Three sites give eight, including none and all three. Each additional site doubles the number. Thirty sites already give over a billion subsets. For each nonempty subset, scan the open stations for every region and use the cheapest service cost. We do not need to enumerate assignments separately because stations have no capacity limit, so one region's choice does not restrict another's. Add opening costs and compare with the budget. The empty subset fails when there are required regions. A decision solver can stop at the first passing answer. An optimization solver compares all subsets and returns the cheapest solution. Per subset costs O(sr+s), giving O(2^s(sr+s)) worst-case exhaustive search. Fast checking does not automatically make finding an answer fast. For my final project, I plan to compare this baseline with a faster heuristic, measuring runtime and total solution cost.</a:t>
            </a:r>
          </a:p>
          <a:p xmlns:a="http://schemas.openxmlformats.org/drawingml/2006/main">
            <a:r>
              <a:t>If asked about NP-completeness: this presentation uses the decision version of general uncapacitated facility location. The exponential brute-force count alone is not a proof of NP-completeness. The reduction is later project work.</a:t>
            </a:r>
          </a:p>
          <a:p xmlns:a="http://schemas.openxmlformats.org/drawingml/2006/main">
            <a:r>
              <a:t>Source for model: https://people.orie.cornell.edu/shmoys/or6334/PS1-Solutions.pdf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51e135402642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870ac2ccdc4ab6" /><Relationship Type="http://schemas.openxmlformats.org/officeDocument/2006/relationships/slideLayout" Target="/ppt/slideLayouts/slideLayout1.xml" Id="R34ff5a37435a4c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ff5a37435a4c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d768dab1d40b3" /><Relationship Type="http://schemas.openxmlformats.org/officeDocument/2006/relationships/notesSlide" Target="/ppt/notesSlides/notesSlide1.xml" Id="Rfe563538d24040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4164da3d984255" /><Relationship Type="http://schemas.openxmlformats.org/officeDocument/2006/relationships/notesSlide" Target="/ppt/notesSlides/notesSlide2.xml" Id="Rae91c07cbeaf4f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4045cc2fd54bd2" /><Relationship Type="http://schemas.openxmlformats.org/officeDocument/2006/relationships/notesSlide" Target="/ppt/notesSlides/notesSlide3.xml" Id="R838db2adc30640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6635c938d845e3" /><Relationship Type="http://schemas.openxmlformats.org/officeDocument/2006/relationships/notesSlide" Target="/ppt/notesSlides/notesSlide4.xml" Id="Rcc551014014646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dafc51595c4921" /><Relationship Type="http://schemas.openxmlformats.org/officeDocument/2006/relationships/notesSlide" Target="/ppt/notesSlides/notesSlide5.xml" Id="Rdefd37dc49d34c3e" /></Relationships>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270E28-4F9E-425D-9DA7-16DFB9F648DA}"/>
              </a:ext>
            </a:extLst>
          </p:cNvPr>
          <p:cNvSpPr>
            <a:spLocks xmlns:a="http://schemas.openxmlformats.org/drawingml/2006/main" noGrp="1"/>
          </p:cNvSpPr>
          <p:nvPr/>
        </p:nvSpPr>
        <p:spPr>
          <a:xfrm xmlns:a="http://schemas.openxmlformats.org/drawingml/2006/main">
            <a:off x="619125"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3B"/>
                </a:solidFill>
                <a:latin typeface="Arial"/>
                <a:ea typeface="Arial"/>
                <a:cs typeface="Arial"/>
              </a:defRPr>
            </a:pPr>
            <a:r>
              <a:rPr sz="3450" b="1">
                <a:solidFill>
                  <a:srgbClr val="142D3B"/>
                </a:solidFill>
                <a:latin typeface="Arial"/>
                <a:ea typeface="Arial"/>
                <a:cs typeface="Arial"/>
              </a:rPr>
              <a:t>Optimal facility location</a:t>
            </a:r>
          </a:p>
        </p:txBody>
      </p:sp>
      <p:sp>
        <p:nvSpPr>
          <p:cNvPr id="2" name="">
            <a:extLst xmlns:a="http://schemas.openxmlformats.org/drawingml/2006/main">
              <a:ext uri="{FF2B5EF4-FFF2-40B4-BE49-F238E27FC236}">
                <a16:creationId xmlns:a16="http://schemas.microsoft.com/office/drawing/2014/main" id="{CCAA638B-62E3-44F4-8D63-EF512D7C45B2}"/>
              </a:ext>
            </a:extLst>
          </p:cNvPr>
          <p:cNvSpPr>
            <a:spLocks xmlns:a="http://schemas.openxmlformats.org/drawingml/2006/main" noGrp="1"/>
          </p:cNvSpPr>
          <p:nvPr/>
        </p:nvSpPr>
        <p:spPr>
          <a:xfrm xmlns:a="http://schemas.openxmlformats.org/drawingml/2006/main">
            <a:off x="619125" y="1285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E8B"/>
                </a:solidFill>
                <a:latin typeface="Arial"/>
                <a:ea typeface="Arial"/>
                <a:cs typeface="Arial"/>
              </a:defRPr>
            </a:pPr>
            <a:r>
              <a:rPr sz="2550" b="1">
                <a:solidFill>
                  <a:srgbClr val="087E8B"/>
                </a:solidFill>
                <a:latin typeface="Arial"/>
                <a:ea typeface="Arial"/>
                <a:cs typeface="Arial"/>
              </a:rPr>
              <a:t>Choosing sensor stations to serve every region</a:t>
            </a:r>
          </a:p>
        </p:txBody>
      </p:sp>
      <p:sp>
        <p:nvSpPr>
          <p:cNvPr id="3" name="">
            <a:extLst xmlns:a="http://schemas.openxmlformats.org/drawingml/2006/main">
              <a:ext uri="{FF2B5EF4-FFF2-40B4-BE49-F238E27FC236}">
                <a16:creationId xmlns:a16="http://schemas.microsoft.com/office/drawing/2014/main" id="{4C254546-D488-4551-BB31-CAAAFF4507AD}"/>
              </a:ext>
            </a:extLst>
          </p:cNvPr>
          <p:cNvSpPr>
            <a:spLocks xmlns:a="http://schemas.openxmlformats.org/drawingml/2006/main" noGrp="1"/>
          </p:cNvSpPr>
          <p:nvPr/>
        </p:nvSpPr>
        <p:spPr>
          <a:xfrm xmlns:a="http://schemas.openxmlformats.org/drawingml/2006/main">
            <a:off x="619125" y="22574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B"/>
                </a:solidFill>
                <a:latin typeface="Arial"/>
                <a:ea typeface="Arial"/>
                <a:cs typeface="Arial"/>
              </a:defRPr>
            </a:pPr>
            <a:r>
              <a:rPr sz="2850" b="1">
                <a:solidFill>
                  <a:srgbClr val="142D3B"/>
                </a:solidFill>
                <a:latin typeface="Arial"/>
                <a:ea typeface="Arial"/>
                <a:cs typeface="Arial"/>
              </a:rPr>
              <a:t>Total cost = activation costs + service costs</a:t>
            </a:r>
          </a:p>
        </p:txBody>
      </p:sp>
      <p:sp>
        <p:nvSpPr>
          <p:cNvPr id="4" name="">
            <a:extLst xmlns:a="http://schemas.openxmlformats.org/drawingml/2006/main">
              <a:ext uri="{FF2B5EF4-FFF2-40B4-BE49-F238E27FC236}">
                <a16:creationId xmlns:a16="http://schemas.microsoft.com/office/drawing/2014/main" id="{EFB82E84-CD63-4E35-A819-F3943A85889D}"/>
              </a:ext>
            </a:extLst>
          </p:cNvPr>
          <p:cNvSpPr>
            <a:spLocks xmlns:a="http://schemas.openxmlformats.org/drawingml/2006/main" noGrp="1"/>
          </p:cNvSpPr>
          <p:nvPr/>
        </p:nvSpPr>
        <p:spPr>
          <a:xfrm xmlns:a="http://schemas.openxmlformats.org/drawingml/2006/main">
            <a:off x="619125" y="3133725"/>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Decision: can we serve every region within budget B?</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Optimization: what is the cheapest complete solution?</a:t>
            </a:r>
          </a:p>
        </p:txBody>
      </p:sp>
      <p:sp>
        <p:nvSpPr>
          <p:cNvPr id="5" name="">
            <a:extLst xmlns:a="http://schemas.openxmlformats.org/drawingml/2006/main">
              <a:ext uri="{FF2B5EF4-FFF2-40B4-BE49-F238E27FC236}">
                <a16:creationId xmlns:a16="http://schemas.microsoft.com/office/drawing/2014/main" id="{DFEBE388-03E3-446C-82CB-AD7751BAC1D4}"/>
              </a:ext>
            </a:extLst>
          </p:cNvPr>
          <p:cNvSpPr>
            <a:spLocks xmlns:a="http://schemas.openxmlformats.org/drawingml/2006/main" noGrp="1"/>
          </p:cNvSpPr>
          <p:nvPr/>
        </p:nvSpPr>
        <p:spPr>
          <a:xfrm xmlns:a="http://schemas.openxmlformats.org/drawingml/2006/main">
            <a:off x="619125" y="447675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Input: possible sites, regions, costs, and a budget.</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Answer: open sites and one assigned site for each region.</a:t>
            </a:r>
          </a:p>
        </p:txBody>
      </p:sp>
      <p:sp>
        <p:nvSpPr>
          <p:cNvPr id="6" name="">
            <a:extLst xmlns:a="http://schemas.openxmlformats.org/drawingml/2006/main">
              <a:ext uri="{FF2B5EF4-FFF2-40B4-BE49-F238E27FC236}">
                <a16:creationId xmlns:a16="http://schemas.microsoft.com/office/drawing/2014/main" id="{4AA5E832-5F71-436D-93FC-3AEFC8ABD429}"/>
              </a:ext>
            </a:extLst>
          </p:cNvPr>
          <p:cNvSpPr>
            <a:spLocks xmlns:a="http://schemas.openxmlformats.org/drawingml/2006/main" noGrp="1"/>
          </p:cNvSpPr>
          <p:nvPr/>
        </p:nvSpPr>
        <p:spPr>
          <a:xfrm xmlns:a="http://schemas.openxmlformats.org/drawingml/2006/main">
            <a:off x="619125" y="5886450"/>
            <a:ext cx="762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E6572"/>
                </a:solidFill>
                <a:latin typeface="Arial"/>
                <a:ea typeface="Arial"/>
                <a:cs typeface="Arial"/>
              </a:defRPr>
            </a:pPr>
            <a:r>
              <a:rPr sz="1650" b="0">
                <a:solidFill>
                  <a:srgbClr val="4E6572"/>
                </a:solidFill>
                <a:latin typeface="Arial"/>
                <a:ea typeface="Arial"/>
                <a:cs typeface="Arial"/>
              </a:rPr>
              <a:t>Samuel Schuetz</a:t>
            </a:r>
          </a:p>
          <a:p xmlns:a="http://schemas.openxmlformats.org/drawingml/2006/main">
            <a:pPr>
              <a:defRPr sz="1650" b="0">
                <a:solidFill>
                  <a:srgbClr val="4E6572"/>
                </a:solidFill>
                <a:latin typeface="Arial"/>
                <a:ea typeface="Arial"/>
                <a:cs typeface="Arial"/>
              </a:defRPr>
            </a:pPr>
            <a:r>
              <a:rPr sz="1650" b="0">
                <a:solidFill>
                  <a:srgbClr val="4E6572"/>
                </a:solidFill>
                <a:latin typeface="Arial"/>
                <a:ea typeface="Arial"/>
                <a:cs typeface="Arial"/>
              </a:rPr>
              <a:t>Advanced Algorithms, October 2, 2026</a:t>
            </a:r>
          </a:p>
        </p:txBody>
      </p:sp>
    </p:spTree>
    <p:extLst>
      <p:ext uri="{BB962C8B-B14F-4D97-AF65-F5344CB8AC3E}">
        <p14:creationId xmlns:p14="http://schemas.microsoft.com/office/powerpoint/2010/main" val="136353138"/>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B474A2-E225-4FB7-A7B2-69113AE90297}"/>
              </a:ext>
            </a:extLst>
          </p:cNvPr>
          <p:cNvSpPr>
            <a:spLocks xmlns:a="http://schemas.openxmlformats.org/drawingml/2006/main" noGrp="1"/>
          </p:cNvSpPr>
          <p:nvPr/>
        </p:nvSpPr>
        <p:spPr>
          <a:xfrm xmlns:a="http://schemas.openxmlformats.org/drawingml/2006/main">
            <a:off x="619125"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3B"/>
                </a:solidFill>
                <a:latin typeface="Arial"/>
                <a:ea typeface="Arial"/>
                <a:cs typeface="Arial"/>
              </a:defRPr>
            </a:pPr>
            <a:r>
              <a:rPr sz="3450" b="1">
                <a:solidFill>
                  <a:srgbClr val="142D3B"/>
                </a:solidFill>
                <a:latin typeface="Arial"/>
                <a:ea typeface="Arial"/>
                <a:cs typeface="Arial"/>
              </a:rPr>
              <a:t>Example 1: one station wins</a:t>
            </a:r>
          </a:p>
        </p:txBody>
      </p:sp>
      <p:sp>
        <p:nvSpPr>
          <p:cNvPr id="2" name="">
            <a:extLst xmlns:a="http://schemas.openxmlformats.org/drawingml/2006/main">
              <a:ext uri="{FF2B5EF4-FFF2-40B4-BE49-F238E27FC236}">
                <a16:creationId xmlns:a16="http://schemas.microsoft.com/office/drawing/2014/main" id="{3D2F78EF-C710-4CBB-B43E-8CD4C1CAE2D0}"/>
              </a:ext>
            </a:extLst>
          </p:cNvPr>
          <p:cNvSpPr>
            <a:spLocks xmlns:a="http://schemas.openxmlformats.org/drawingml/2006/main" noGrp="1"/>
          </p:cNvSpPr>
          <p:nvPr/>
        </p:nvSpPr>
        <p:spPr>
          <a:xfrm xmlns:a="http://schemas.openxmlformats.org/drawingml/2006/main">
            <a:off x="619125" y="1304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4E6572"/>
                </a:solidFill>
                <a:latin typeface="Arial"/>
                <a:ea typeface="Arial"/>
                <a:cs typeface="Arial"/>
              </a:defRPr>
            </a:pPr>
            <a:r>
              <a:rPr sz="2250" b="0">
                <a:solidFill>
                  <a:srgbClr val="4E6572"/>
                </a:solidFill>
                <a:latin typeface="Arial"/>
                <a:ea typeface="Arial"/>
                <a:cs typeface="Arial"/>
              </a:rPr>
              <a:t>Required regions: North, Central, South     Budget: 6</a:t>
            </a:r>
          </a:p>
        </p:txBody>
      </p:sp>
      <p:graphicFrame>
        <p:nvGraphicFramePr>
          <p:cNvPr id="9" name=""/>
          <p:cNvGraphicFramePr/>
          <p:nvPr/>
        </p:nvGraphicFramePr>
        <p:xfrm>
          <a:off xmlns:a="http://schemas.openxmlformats.org/drawingml/2006/main" x="619125" y="1866900"/>
          <a:ext xmlns:a="http://schemas.openxmlformats.org/drawingml/2006/main" cx="10953750" cy="2362200"/>
        </p:xfrm>
        <a:graphic xmlns:a="http://schemas.openxmlformats.org/drawingml/2006/main">
          <a:graphicData uri="http://schemas.openxmlformats.org/drawingml/2006/table">
            <a:tbl>
              <a:tblPr/>
              <a:tblGrid>
                <a:gridCol w="1619250"/>
                <a:gridCol w="2476500"/>
                <a:gridCol w="2286000"/>
                <a:gridCol w="2286000"/>
                <a:gridCol w="2286000"/>
              </a:tblGrid>
              <a:tr h="590550">
                <a:tc>
                  <a:txBody>
                    <a:bodyPr/>
                    <a:lstStyle/>
                    <a:p>
                      <a:r>
                        <a:rPr sz="2175" b="1">
                          <a:solidFill>
                            <a:srgbClr val="FFFFFF"/>
                          </a:solidFill>
                          <a:latin typeface="Arial"/>
                          <a:ea typeface="Arial"/>
                          <a:cs typeface="Arial"/>
                        </a:rPr>
                        <a:t>Site</a:t>
                      </a:r>
                    </a:p>
                  </a:txBody>
                  <a:tcPr marL="91440" marR="91440" marT="45720" marB="45720">
                    <a:solidFill>
                      <a:srgbClr val="142D3B"/>
                    </a:solidFill>
                  </a:tcPr>
                </a:tc>
                <a:tc>
                  <a:txBody>
                    <a:bodyPr/>
                    <a:lstStyle/>
                    <a:p>
                      <a:r>
                        <a:rPr sz="2175" b="1">
                          <a:solidFill>
                            <a:srgbClr val="FFFFFF"/>
                          </a:solidFill>
                          <a:latin typeface="Arial"/>
                          <a:ea typeface="Arial"/>
                          <a:cs typeface="Arial"/>
                        </a:rPr>
                        <a:t>Activation</a:t>
                      </a:r>
                    </a:p>
                  </a:txBody>
                  <a:tcPr marL="91440" marR="91440" marT="45720" marB="45720">
                    <a:solidFill>
                      <a:srgbClr val="142D3B"/>
                    </a:solidFill>
                  </a:tcPr>
                </a:tc>
                <a:tc>
                  <a:txBody>
                    <a:bodyPr/>
                    <a:lstStyle/>
                    <a:p>
                      <a:r>
                        <a:rPr sz="2175" b="1">
                          <a:solidFill>
                            <a:srgbClr val="FFFFFF"/>
                          </a:solidFill>
                          <a:latin typeface="Arial"/>
                          <a:ea typeface="Arial"/>
                          <a:cs typeface="Arial"/>
                        </a:rPr>
                        <a:t>North</a:t>
                      </a:r>
                    </a:p>
                  </a:txBody>
                  <a:tcPr marL="91440" marR="91440" marT="45720" marB="45720">
                    <a:solidFill>
                      <a:srgbClr val="142D3B"/>
                    </a:solidFill>
                  </a:tcPr>
                </a:tc>
                <a:tc>
                  <a:txBody>
                    <a:bodyPr/>
                    <a:lstStyle/>
                    <a:p>
                      <a:r>
                        <a:rPr sz="2175" b="1">
                          <a:solidFill>
                            <a:srgbClr val="FFFFFF"/>
                          </a:solidFill>
                          <a:latin typeface="Arial"/>
                          <a:ea typeface="Arial"/>
                          <a:cs typeface="Arial"/>
                        </a:rPr>
                        <a:t>Central</a:t>
                      </a:r>
                    </a:p>
                  </a:txBody>
                  <a:tcPr marL="91440" marR="91440" marT="45720" marB="45720">
                    <a:solidFill>
                      <a:srgbClr val="142D3B"/>
                    </a:solidFill>
                  </a:tcPr>
                </a:tc>
                <a:tc>
                  <a:txBody>
                    <a:bodyPr/>
                    <a:lstStyle/>
                    <a:p>
                      <a:r>
                        <a:rPr sz="2175" b="1">
                          <a:solidFill>
                            <a:srgbClr val="FFFFFF"/>
                          </a:solidFill>
                          <a:latin typeface="Arial"/>
                          <a:ea typeface="Arial"/>
                          <a:cs typeface="Arial"/>
                        </a:rPr>
                        <a:t>South</a:t>
                      </a:r>
                    </a:p>
                  </a:txBody>
                  <a:tcPr marL="91440" marR="91440" marT="45720" marB="45720">
                    <a:solidFill>
                      <a:srgbClr val="142D3B"/>
                    </a:solidFill>
                  </a:tcPr>
                </a:tc>
              </a:tr>
              <a:tr h="590550">
                <a:tc>
                  <a:txBody>
                    <a:bodyPr/>
                    <a:lstStyle/>
                    <a:p>
                      <a:r>
                        <a:rPr sz="2175" b="0">
                          <a:solidFill>
                            <a:srgbClr val="142D3B"/>
                          </a:solidFill>
                          <a:latin typeface="Arial"/>
                          <a:ea typeface="Arial"/>
                          <a:cs typeface="Arial"/>
                        </a:rPr>
                        <a:t>A</a:t>
                      </a:r>
                    </a:p>
                  </a:txBody>
                  <a:tcPr marL="91440" marR="91440" marT="45720" marB="45720">
                    <a:solidFill>
                      <a:srgbClr val="FFFFFF"/>
                    </a:solidFill>
                  </a:tcPr>
                </a:tc>
                <a:tc>
                  <a:txBody>
                    <a:bodyPr/>
                    <a:lstStyle/>
                    <a:p>
                      <a:r>
                        <a:rPr sz="2175" b="0">
                          <a:solidFill>
                            <a:srgbClr val="142D3B"/>
                          </a:solidFill>
                          <a:latin typeface="Arial"/>
                          <a:ea typeface="Arial"/>
                          <a:cs typeface="Arial"/>
                        </a:rPr>
                        <a:t>3</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9</a:t>
                      </a:r>
                    </a:p>
                  </a:txBody>
                  <a:tcPr marL="91440" marR="91440" marT="45720" marB="45720">
                    <a:solidFill>
                      <a:srgbClr val="FFFFFF"/>
                    </a:solidFill>
                  </a:tcPr>
                </a:tc>
              </a:tr>
              <a:tr h="590550">
                <a:tc>
                  <a:txBody>
                    <a:bodyPr/>
                    <a:lstStyle/>
                    <a:p>
                      <a:r>
                        <a:rPr sz="2175" b="0">
                          <a:solidFill>
                            <a:srgbClr val="142D3B"/>
                          </a:solidFill>
                          <a:latin typeface="Arial"/>
                          <a:ea typeface="Arial"/>
                          <a:cs typeface="Arial"/>
                        </a:rPr>
                        <a:t>B</a:t>
                      </a:r>
                    </a:p>
                  </a:txBody>
                  <a:tcPr marL="91440" marR="91440" marT="45720" marB="45720">
                    <a:solidFill>
                      <a:srgbClr val="FFFFFF"/>
                    </a:solidFill>
                  </a:tcPr>
                </a:tc>
                <a:tc>
                  <a:txBody>
                    <a:bodyPr/>
                    <a:lstStyle/>
                    <a:p>
                      <a:r>
                        <a:rPr sz="2175" b="0">
                          <a:solidFill>
                            <a:srgbClr val="142D3B"/>
                          </a:solidFill>
                          <a:latin typeface="Arial"/>
                          <a:ea typeface="Arial"/>
                          <a:cs typeface="Arial"/>
                        </a:rPr>
                        <a:t>4</a:t>
                      </a:r>
                    </a:p>
                  </a:txBody>
                  <a:tcPr marL="91440" marR="91440" marT="45720" marB="45720">
                    <a:solidFill>
                      <a:srgbClr val="FFFFFF"/>
                    </a:solidFill>
                  </a:tcPr>
                </a:tc>
                <a:tc>
                  <a:txBody>
                    <a:bodyPr/>
                    <a:lstStyle/>
                    <a:p>
                      <a:r>
                        <a:rPr sz="2175" b="0">
                          <a:solidFill>
                            <a:srgbClr val="142D3B"/>
                          </a:solidFill>
                          <a:latin typeface="Arial"/>
                          <a:ea typeface="Arial"/>
                          <a:cs typeface="Arial"/>
                        </a:rPr>
                        <a:t>9</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r>
              <a:tr h="590550">
                <a:tc>
                  <a:txBody>
                    <a:bodyPr/>
                    <a:lstStyle/>
                    <a:p>
                      <a:r>
                        <a:rPr sz="2175" b="0">
                          <a:solidFill>
                            <a:srgbClr val="142D3B"/>
                          </a:solidFill>
                          <a:latin typeface="Arial"/>
                          <a:ea typeface="Arial"/>
                          <a:cs typeface="Arial"/>
                        </a:rPr>
                        <a:t>C</a:t>
                      </a:r>
                    </a:p>
                  </a:txBody>
                  <a:tcPr marL="91440" marR="91440" marT="45720" marB="45720">
                    <a:solidFill>
                      <a:srgbClr val="FFFFFF"/>
                    </a:solidFill>
                  </a:tcPr>
                </a:tc>
                <a:tc>
                  <a:txBody>
                    <a:bodyPr/>
                    <a:lstStyle/>
                    <a:p>
                      <a:r>
                        <a:rPr sz="2175" b="0">
                          <a:solidFill>
                            <a:srgbClr val="142D3B"/>
                          </a:solidFill>
                          <a:latin typeface="Arial"/>
                          <a:ea typeface="Arial"/>
                          <a:cs typeface="Arial"/>
                        </a:rPr>
                        <a:t>6</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56BC77E-0953-4C46-8B11-9EB200FB1E96}"/>
              </a:ext>
            </a:extLst>
          </p:cNvPr>
          <p:cNvSpPr>
            <a:spLocks xmlns:a="http://schemas.openxmlformats.org/drawingml/2006/main" noGrp="1"/>
          </p:cNvSpPr>
          <p:nvPr/>
        </p:nvSpPr>
        <p:spPr>
          <a:xfrm xmlns:a="http://schemas.openxmlformats.org/drawingml/2006/main">
            <a:off x="619125" y="43243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E6572"/>
                </a:solidFill>
                <a:latin typeface="Arial"/>
                <a:ea typeface="Arial"/>
                <a:cs typeface="Arial"/>
              </a:defRPr>
            </a:pPr>
            <a:r>
              <a:rPr sz="1800" b="0">
                <a:solidFill>
                  <a:srgbClr val="4E6572"/>
                </a:solidFill>
                <a:latin typeface="Arial"/>
                <a:ea typeface="Arial"/>
                <a:cs typeface="Arial"/>
              </a:rPr>
              <a:t>Region columns show extra service cost. All costs use fictional units.</a:t>
            </a:r>
          </a:p>
        </p:txBody>
      </p:sp>
      <p:sp>
        <p:nvSpPr>
          <p:cNvPr id="5" name="">
            <a:extLst xmlns:a="http://schemas.openxmlformats.org/drawingml/2006/main">
              <a:ext uri="{FF2B5EF4-FFF2-40B4-BE49-F238E27FC236}">
                <a16:creationId xmlns:a16="http://schemas.microsoft.com/office/drawing/2014/main" id="{0004AB98-6AC3-4113-9183-C299B846D089}"/>
              </a:ext>
            </a:extLst>
          </p:cNvPr>
          <p:cNvSpPr>
            <a:spLocks xmlns:a="http://schemas.openxmlformats.org/drawingml/2006/main" noGrp="1"/>
          </p:cNvSpPr>
          <p:nvPr/>
        </p:nvSpPr>
        <p:spPr>
          <a:xfrm xmlns:a="http://schemas.openxmlformats.org/drawingml/2006/main">
            <a:off x="619125" y="49625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E8B"/>
                </a:solidFill>
                <a:latin typeface="Arial"/>
                <a:ea typeface="Arial"/>
                <a:cs typeface="Arial"/>
              </a:defRPr>
            </a:pPr>
            <a:r>
              <a:rPr sz="2550" b="1">
                <a:solidFill>
                  <a:srgbClr val="087E8B"/>
                </a:solidFill>
                <a:latin typeface="Arial"/>
                <a:ea typeface="Arial"/>
                <a:cs typeface="Arial"/>
              </a:rPr>
              <a:t>Open C. Assign all three regions to C.</a:t>
            </a:r>
          </a:p>
        </p:txBody>
      </p:sp>
      <p:sp>
        <p:nvSpPr>
          <p:cNvPr id="6" name="">
            <a:extLst xmlns:a="http://schemas.openxmlformats.org/drawingml/2006/main">
              <a:ext uri="{FF2B5EF4-FFF2-40B4-BE49-F238E27FC236}">
                <a16:creationId xmlns:a16="http://schemas.microsoft.com/office/drawing/2014/main" id="{525CE5BB-BE7B-477E-8FDF-534E093D1135}"/>
              </a:ext>
            </a:extLst>
          </p:cNvPr>
          <p:cNvSpPr>
            <a:spLocks xmlns:a="http://schemas.openxmlformats.org/drawingml/2006/main" noGrp="1"/>
          </p:cNvSpPr>
          <p:nvPr/>
        </p:nvSpPr>
        <p:spPr>
          <a:xfrm xmlns:a="http://schemas.openxmlformats.org/drawingml/2006/main">
            <a:off x="619125" y="5543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D3B"/>
                </a:solidFill>
                <a:latin typeface="Arial"/>
                <a:ea typeface="Arial"/>
                <a:cs typeface="Arial"/>
              </a:defRPr>
            </a:pPr>
            <a:r>
              <a:rPr sz="2700" b="1">
                <a:solidFill>
                  <a:srgbClr val="142D3B"/>
                </a:solidFill>
                <a:latin typeface="Arial"/>
                <a:ea typeface="Arial"/>
                <a:cs typeface="Arial"/>
              </a:rPr>
              <a:t>Total = 6 + 0 + 0 + 0 = 6     YES</a:t>
            </a:r>
          </a:p>
        </p:txBody>
      </p:sp>
    </p:spTree>
    <p:extLst>
      <p:ext uri="{BB962C8B-B14F-4D97-AF65-F5344CB8AC3E}">
        <p14:creationId xmlns:p14="http://schemas.microsoft.com/office/powerpoint/2010/main" val="308147224"/>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461938-771E-435A-B322-887C4CC90BC0}"/>
              </a:ext>
            </a:extLst>
          </p:cNvPr>
          <p:cNvSpPr>
            <a:spLocks xmlns:a="http://schemas.openxmlformats.org/drawingml/2006/main" noGrp="1"/>
          </p:cNvSpPr>
          <p:nvPr/>
        </p:nvSpPr>
        <p:spPr>
          <a:xfrm xmlns:a="http://schemas.openxmlformats.org/drawingml/2006/main">
            <a:off x="619125"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3B"/>
                </a:solidFill>
                <a:latin typeface="Arial"/>
                <a:ea typeface="Arial"/>
                <a:cs typeface="Arial"/>
              </a:defRPr>
            </a:pPr>
            <a:r>
              <a:rPr sz="3450" b="1">
                <a:solidFill>
                  <a:srgbClr val="142D3B"/>
                </a:solidFill>
                <a:latin typeface="Arial"/>
                <a:ea typeface="Arial"/>
                <a:cs typeface="Arial"/>
              </a:rPr>
              <a:t>Example 2: two stations win</a:t>
            </a:r>
          </a:p>
        </p:txBody>
      </p:sp>
      <p:sp>
        <p:nvSpPr>
          <p:cNvPr id="2" name="">
            <a:extLst xmlns:a="http://schemas.openxmlformats.org/drawingml/2006/main">
              <a:ext uri="{FF2B5EF4-FFF2-40B4-BE49-F238E27FC236}">
                <a16:creationId xmlns:a16="http://schemas.microsoft.com/office/drawing/2014/main" id="{1BF85FFE-CAB9-475F-901B-2EB026A306FB}"/>
              </a:ext>
            </a:extLst>
          </p:cNvPr>
          <p:cNvSpPr>
            <a:spLocks xmlns:a="http://schemas.openxmlformats.org/drawingml/2006/main" noGrp="1"/>
          </p:cNvSpPr>
          <p:nvPr/>
        </p:nvSpPr>
        <p:spPr>
          <a:xfrm xmlns:a="http://schemas.openxmlformats.org/drawingml/2006/main">
            <a:off x="619125" y="1304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4E6572"/>
                </a:solidFill>
                <a:latin typeface="Arial"/>
                <a:ea typeface="Arial"/>
                <a:cs typeface="Arial"/>
              </a:defRPr>
            </a:pPr>
            <a:r>
              <a:rPr sz="2250" b="0">
                <a:solidFill>
                  <a:srgbClr val="4E6572"/>
                </a:solidFill>
                <a:latin typeface="Arial"/>
                <a:ea typeface="Arial"/>
                <a:cs typeface="Arial"/>
              </a:rPr>
              <a:t>C now costs 8 to activate. The budget is now 7.</a:t>
            </a:r>
          </a:p>
        </p:txBody>
      </p:sp>
      <p:graphicFrame>
        <p:nvGraphicFramePr>
          <p:cNvPr id="9" name=""/>
          <p:cNvGraphicFramePr/>
          <p:nvPr/>
        </p:nvGraphicFramePr>
        <p:xfrm>
          <a:off xmlns:a="http://schemas.openxmlformats.org/drawingml/2006/main" x="619125" y="1866900"/>
          <a:ext xmlns:a="http://schemas.openxmlformats.org/drawingml/2006/main" cx="10953750" cy="2362200"/>
        </p:xfrm>
        <a:graphic xmlns:a="http://schemas.openxmlformats.org/drawingml/2006/main">
          <a:graphicData uri="http://schemas.openxmlformats.org/drawingml/2006/table">
            <a:tbl>
              <a:tblPr/>
              <a:tblGrid>
                <a:gridCol w="1619250"/>
                <a:gridCol w="2476500"/>
                <a:gridCol w="2286000"/>
                <a:gridCol w="2286000"/>
                <a:gridCol w="2286000"/>
              </a:tblGrid>
              <a:tr h="590550">
                <a:tc>
                  <a:txBody>
                    <a:bodyPr/>
                    <a:lstStyle/>
                    <a:p>
                      <a:r>
                        <a:rPr sz="2175" b="1">
                          <a:solidFill>
                            <a:srgbClr val="FFFFFF"/>
                          </a:solidFill>
                          <a:latin typeface="Arial"/>
                          <a:ea typeface="Arial"/>
                          <a:cs typeface="Arial"/>
                        </a:rPr>
                        <a:t>Site</a:t>
                      </a:r>
                    </a:p>
                  </a:txBody>
                  <a:tcPr marL="91440" marR="91440" marT="45720" marB="45720">
                    <a:solidFill>
                      <a:srgbClr val="142D3B"/>
                    </a:solidFill>
                  </a:tcPr>
                </a:tc>
                <a:tc>
                  <a:txBody>
                    <a:bodyPr/>
                    <a:lstStyle/>
                    <a:p>
                      <a:r>
                        <a:rPr sz="2175" b="1">
                          <a:solidFill>
                            <a:srgbClr val="FFFFFF"/>
                          </a:solidFill>
                          <a:latin typeface="Arial"/>
                          <a:ea typeface="Arial"/>
                          <a:cs typeface="Arial"/>
                        </a:rPr>
                        <a:t>Activation</a:t>
                      </a:r>
                    </a:p>
                  </a:txBody>
                  <a:tcPr marL="91440" marR="91440" marT="45720" marB="45720">
                    <a:solidFill>
                      <a:srgbClr val="142D3B"/>
                    </a:solidFill>
                  </a:tcPr>
                </a:tc>
                <a:tc>
                  <a:txBody>
                    <a:bodyPr/>
                    <a:lstStyle/>
                    <a:p>
                      <a:r>
                        <a:rPr sz="2175" b="1">
                          <a:solidFill>
                            <a:srgbClr val="FFFFFF"/>
                          </a:solidFill>
                          <a:latin typeface="Arial"/>
                          <a:ea typeface="Arial"/>
                          <a:cs typeface="Arial"/>
                        </a:rPr>
                        <a:t>North</a:t>
                      </a:r>
                    </a:p>
                  </a:txBody>
                  <a:tcPr marL="91440" marR="91440" marT="45720" marB="45720">
                    <a:solidFill>
                      <a:srgbClr val="142D3B"/>
                    </a:solidFill>
                  </a:tcPr>
                </a:tc>
                <a:tc>
                  <a:txBody>
                    <a:bodyPr/>
                    <a:lstStyle/>
                    <a:p>
                      <a:r>
                        <a:rPr sz="2175" b="1">
                          <a:solidFill>
                            <a:srgbClr val="FFFFFF"/>
                          </a:solidFill>
                          <a:latin typeface="Arial"/>
                          <a:ea typeface="Arial"/>
                          <a:cs typeface="Arial"/>
                        </a:rPr>
                        <a:t>Central</a:t>
                      </a:r>
                    </a:p>
                  </a:txBody>
                  <a:tcPr marL="91440" marR="91440" marT="45720" marB="45720">
                    <a:solidFill>
                      <a:srgbClr val="142D3B"/>
                    </a:solidFill>
                  </a:tcPr>
                </a:tc>
                <a:tc>
                  <a:txBody>
                    <a:bodyPr/>
                    <a:lstStyle/>
                    <a:p>
                      <a:r>
                        <a:rPr sz="2175" b="1">
                          <a:solidFill>
                            <a:srgbClr val="FFFFFF"/>
                          </a:solidFill>
                          <a:latin typeface="Arial"/>
                          <a:ea typeface="Arial"/>
                          <a:cs typeface="Arial"/>
                        </a:rPr>
                        <a:t>South</a:t>
                      </a:r>
                    </a:p>
                  </a:txBody>
                  <a:tcPr marL="91440" marR="91440" marT="45720" marB="45720">
                    <a:solidFill>
                      <a:srgbClr val="142D3B"/>
                    </a:solidFill>
                  </a:tcPr>
                </a:tc>
              </a:tr>
              <a:tr h="590550">
                <a:tc>
                  <a:txBody>
                    <a:bodyPr/>
                    <a:lstStyle/>
                    <a:p>
                      <a:r>
                        <a:rPr sz="2175" b="0">
                          <a:solidFill>
                            <a:srgbClr val="142D3B"/>
                          </a:solidFill>
                          <a:latin typeface="Arial"/>
                          <a:ea typeface="Arial"/>
                          <a:cs typeface="Arial"/>
                        </a:rPr>
                        <a:t>A</a:t>
                      </a:r>
                    </a:p>
                  </a:txBody>
                  <a:tcPr marL="91440" marR="91440" marT="45720" marB="45720">
                    <a:solidFill>
                      <a:srgbClr val="FFFFFF"/>
                    </a:solidFill>
                  </a:tcPr>
                </a:tc>
                <a:tc>
                  <a:txBody>
                    <a:bodyPr/>
                    <a:lstStyle/>
                    <a:p>
                      <a:r>
                        <a:rPr sz="2175" b="0">
                          <a:solidFill>
                            <a:srgbClr val="142D3B"/>
                          </a:solidFill>
                          <a:latin typeface="Arial"/>
                          <a:ea typeface="Arial"/>
                          <a:cs typeface="Arial"/>
                        </a:rPr>
                        <a:t>3</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9</a:t>
                      </a:r>
                    </a:p>
                  </a:txBody>
                  <a:tcPr marL="91440" marR="91440" marT="45720" marB="45720">
                    <a:solidFill>
                      <a:srgbClr val="FFFFFF"/>
                    </a:solidFill>
                  </a:tcPr>
                </a:tc>
              </a:tr>
              <a:tr h="590550">
                <a:tc>
                  <a:txBody>
                    <a:bodyPr/>
                    <a:lstStyle/>
                    <a:p>
                      <a:r>
                        <a:rPr sz="2175" b="0">
                          <a:solidFill>
                            <a:srgbClr val="142D3B"/>
                          </a:solidFill>
                          <a:latin typeface="Arial"/>
                          <a:ea typeface="Arial"/>
                          <a:cs typeface="Arial"/>
                        </a:rPr>
                        <a:t>B</a:t>
                      </a:r>
                    </a:p>
                  </a:txBody>
                  <a:tcPr marL="91440" marR="91440" marT="45720" marB="45720">
                    <a:solidFill>
                      <a:srgbClr val="FFFFFF"/>
                    </a:solidFill>
                  </a:tcPr>
                </a:tc>
                <a:tc>
                  <a:txBody>
                    <a:bodyPr/>
                    <a:lstStyle/>
                    <a:p>
                      <a:r>
                        <a:rPr sz="2175" b="0">
                          <a:solidFill>
                            <a:srgbClr val="142D3B"/>
                          </a:solidFill>
                          <a:latin typeface="Arial"/>
                          <a:ea typeface="Arial"/>
                          <a:cs typeface="Arial"/>
                        </a:rPr>
                        <a:t>4</a:t>
                      </a:r>
                    </a:p>
                  </a:txBody>
                  <a:tcPr marL="91440" marR="91440" marT="45720" marB="45720">
                    <a:solidFill>
                      <a:srgbClr val="FFFFFF"/>
                    </a:solidFill>
                  </a:tcPr>
                </a:tc>
                <a:tc>
                  <a:txBody>
                    <a:bodyPr/>
                    <a:lstStyle/>
                    <a:p>
                      <a:r>
                        <a:rPr sz="2175" b="0">
                          <a:solidFill>
                            <a:srgbClr val="142D3B"/>
                          </a:solidFill>
                          <a:latin typeface="Arial"/>
                          <a:ea typeface="Arial"/>
                          <a:cs typeface="Arial"/>
                        </a:rPr>
                        <a:t>9</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r>
              <a:tr h="590550">
                <a:tc>
                  <a:txBody>
                    <a:bodyPr/>
                    <a:lstStyle/>
                    <a:p>
                      <a:r>
                        <a:rPr sz="2175" b="0">
                          <a:solidFill>
                            <a:srgbClr val="142D3B"/>
                          </a:solidFill>
                          <a:latin typeface="Arial"/>
                          <a:ea typeface="Arial"/>
                          <a:cs typeface="Arial"/>
                        </a:rPr>
                        <a:t>C</a:t>
                      </a:r>
                    </a:p>
                  </a:txBody>
                  <a:tcPr marL="91440" marR="91440" marT="45720" marB="45720">
                    <a:solidFill>
                      <a:srgbClr val="FFFFFF"/>
                    </a:solidFill>
                  </a:tcPr>
                </a:tc>
                <a:tc>
                  <a:txBody>
                    <a:bodyPr/>
                    <a:lstStyle/>
                    <a:p>
                      <a:r>
                        <a:rPr sz="2175" b="0">
                          <a:solidFill>
                            <a:srgbClr val="142D3B"/>
                          </a:solidFill>
                          <a:latin typeface="Arial"/>
                          <a:ea typeface="Arial"/>
                          <a:cs typeface="Arial"/>
                        </a:rPr>
                        <a:t>8</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c>
                  <a:txBody>
                    <a:bodyPr/>
                    <a:lstStyle/>
                    <a:p>
                      <a:r>
                        <a:rPr sz="2175" b="0">
                          <a:solidFill>
                            <a:srgbClr val="142D3B"/>
                          </a:solidFill>
                          <a:latin typeface="Arial"/>
                          <a:ea typeface="Arial"/>
                          <a:cs typeface="Arial"/>
                        </a:rPr>
                        <a:t>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7E8BF81-3F26-403D-A11B-48BDC05A11F9}"/>
              </a:ext>
            </a:extLst>
          </p:cNvPr>
          <p:cNvSpPr>
            <a:spLocks xmlns:a="http://schemas.openxmlformats.org/drawingml/2006/main" noGrp="1"/>
          </p:cNvSpPr>
          <p:nvPr/>
        </p:nvSpPr>
        <p:spPr>
          <a:xfrm xmlns:a="http://schemas.openxmlformats.org/drawingml/2006/main">
            <a:off x="619125" y="43243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E6572"/>
                </a:solidFill>
                <a:latin typeface="Arial"/>
                <a:ea typeface="Arial"/>
                <a:cs typeface="Arial"/>
              </a:defRPr>
            </a:pPr>
            <a:r>
              <a:rPr sz="1800" b="0">
                <a:solidFill>
                  <a:srgbClr val="4E6572"/>
                </a:solidFill>
                <a:latin typeface="Arial"/>
                <a:ea typeface="Arial"/>
                <a:cs typeface="Arial"/>
              </a:rPr>
              <a:t>The service costs and required regions stay the same.</a:t>
            </a:r>
          </a:p>
        </p:txBody>
      </p:sp>
      <p:sp>
        <p:nvSpPr>
          <p:cNvPr id="5" name="">
            <a:extLst xmlns:a="http://schemas.openxmlformats.org/drawingml/2006/main">
              <a:ext uri="{FF2B5EF4-FFF2-40B4-BE49-F238E27FC236}">
                <a16:creationId xmlns:a16="http://schemas.microsoft.com/office/drawing/2014/main" id="{D0D85DA0-6895-4CCE-B8A7-2C22A7E59CF7}"/>
              </a:ext>
            </a:extLst>
          </p:cNvPr>
          <p:cNvSpPr>
            <a:spLocks xmlns:a="http://schemas.openxmlformats.org/drawingml/2006/main" noGrp="1"/>
          </p:cNvSpPr>
          <p:nvPr/>
        </p:nvSpPr>
        <p:spPr>
          <a:xfrm xmlns:a="http://schemas.openxmlformats.org/drawingml/2006/main">
            <a:off x="619125" y="49625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E8B"/>
                </a:solidFill>
                <a:latin typeface="Arial"/>
                <a:ea typeface="Arial"/>
                <a:cs typeface="Arial"/>
              </a:defRPr>
            </a:pPr>
            <a:r>
              <a:rPr sz="2400" b="1">
                <a:solidFill>
                  <a:srgbClr val="087E8B"/>
                </a:solidFill>
                <a:latin typeface="Arial"/>
                <a:ea typeface="Arial"/>
                <a:cs typeface="Arial"/>
              </a:rPr>
              <a:t>Open A + B. A serves North/Central. B serves South.</a:t>
            </a:r>
          </a:p>
        </p:txBody>
      </p:sp>
      <p:sp>
        <p:nvSpPr>
          <p:cNvPr id="6" name="">
            <a:extLst xmlns:a="http://schemas.openxmlformats.org/drawingml/2006/main">
              <a:ext uri="{FF2B5EF4-FFF2-40B4-BE49-F238E27FC236}">
                <a16:creationId xmlns:a16="http://schemas.microsoft.com/office/drawing/2014/main" id="{3D335E52-F77B-476E-8299-67826D3495F1}"/>
              </a:ext>
            </a:extLst>
          </p:cNvPr>
          <p:cNvSpPr>
            <a:spLocks xmlns:a="http://schemas.openxmlformats.org/drawingml/2006/main" noGrp="1"/>
          </p:cNvSpPr>
          <p:nvPr/>
        </p:nvSpPr>
        <p:spPr>
          <a:xfrm xmlns:a="http://schemas.openxmlformats.org/drawingml/2006/main">
            <a:off x="619125" y="5543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D3B"/>
                </a:solidFill>
                <a:latin typeface="Arial"/>
                <a:ea typeface="Arial"/>
                <a:cs typeface="Arial"/>
              </a:defRPr>
            </a:pPr>
            <a:r>
              <a:rPr sz="2625" b="1">
                <a:solidFill>
                  <a:srgbClr val="142D3B"/>
                </a:solidFill>
                <a:latin typeface="Arial"/>
                <a:ea typeface="Arial"/>
                <a:cs typeface="Arial"/>
              </a:rPr>
              <a:t>Total = 3 + 4 + 0 + 0 + 0 = 7     YES</a:t>
            </a:r>
          </a:p>
        </p:txBody>
      </p:sp>
    </p:spTree>
    <p:extLst>
      <p:ext uri="{BB962C8B-B14F-4D97-AF65-F5344CB8AC3E}">
        <p14:creationId xmlns:p14="http://schemas.microsoft.com/office/powerpoint/2010/main" val="1334562987"/>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584E83-FFAF-407C-8B3A-0186E54CF671}"/>
              </a:ext>
            </a:extLst>
          </p:cNvPr>
          <p:cNvSpPr>
            <a:spLocks xmlns:a="http://schemas.openxmlformats.org/drawingml/2006/main" noGrp="1"/>
          </p:cNvSpPr>
          <p:nvPr/>
        </p:nvSpPr>
        <p:spPr>
          <a:xfrm xmlns:a="http://schemas.openxmlformats.org/drawingml/2006/main">
            <a:off x="619125"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3B"/>
                </a:solidFill>
                <a:latin typeface="Arial"/>
                <a:ea typeface="Arial"/>
                <a:cs typeface="Arial"/>
              </a:defRPr>
            </a:pPr>
            <a:r>
              <a:rPr sz="3450" b="1">
                <a:solidFill>
                  <a:srgbClr val="142D3B"/>
                </a:solidFill>
                <a:latin typeface="Arial"/>
                <a:ea typeface="Arial"/>
                <a:cs typeface="Arial"/>
              </a:rPr>
              <a:t>Checking a candidate answer</a:t>
            </a:r>
          </a:p>
        </p:txBody>
      </p:sp>
      <p:sp>
        <p:nvSpPr>
          <p:cNvPr id="2" name="">
            <a:extLst xmlns:a="http://schemas.openxmlformats.org/drawingml/2006/main">
              <a:ext uri="{FF2B5EF4-FFF2-40B4-BE49-F238E27FC236}">
                <a16:creationId xmlns:a16="http://schemas.microsoft.com/office/drawing/2014/main" id="{C517B55E-37AD-4C06-9356-472B6C7BA706}"/>
              </a:ext>
            </a:extLst>
          </p:cNvPr>
          <p:cNvSpPr>
            <a:spLocks xmlns:a="http://schemas.openxmlformats.org/drawingml/2006/main" noGrp="1"/>
          </p:cNvSpPr>
          <p:nvPr/>
        </p:nvSpPr>
        <p:spPr>
          <a:xfrm xmlns:a="http://schemas.openxmlformats.org/drawingml/2006/main">
            <a:off x="619125" y="14097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1. Check valid site names and one assignment per region.</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2. Confirm every assigned station is open.</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3. Add activation and service costs. Compare with budget.</a:t>
            </a:r>
          </a:p>
        </p:txBody>
      </p:sp>
      <p:sp>
        <p:nvSpPr>
          <p:cNvPr id="3" name="">
            <a:extLst xmlns:a="http://schemas.openxmlformats.org/drawingml/2006/main">
              <a:ext uri="{FF2B5EF4-FFF2-40B4-BE49-F238E27FC236}">
                <a16:creationId xmlns:a16="http://schemas.microsoft.com/office/drawing/2014/main" id="{603D1660-62A0-4540-AF99-3E4557F76B26}"/>
              </a:ext>
            </a:extLst>
          </p:cNvPr>
          <p:cNvSpPr>
            <a:spLocks xmlns:a="http://schemas.openxmlformats.org/drawingml/2006/main" noGrp="1"/>
          </p:cNvSpPr>
          <p:nvPr/>
        </p:nvSpPr>
        <p:spPr>
          <a:xfrm xmlns:a="http://schemas.openxmlformats.org/drawingml/2006/main">
            <a:off x="619125" y="31527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E6572"/>
                </a:solidFill>
                <a:latin typeface="Arial"/>
                <a:ea typeface="Arial"/>
                <a:cs typeface="Arial"/>
              </a:defRPr>
            </a:pPr>
            <a:r>
              <a:rPr sz="2025" b="0">
                <a:solidFill>
                  <a:srgbClr val="4E6572"/>
                </a:solidFill>
                <a:latin typeface="Arial"/>
                <a:ea typeface="Arial"/>
                <a:cs typeface="Arial"/>
              </a:rPr>
              <a:t>Example 2: budget 7</a:t>
            </a:r>
          </a:p>
        </p:txBody>
      </p:sp>
      <p:sp>
        <p:nvSpPr>
          <p:cNvPr id="4" name="">
            <a:extLst xmlns:a="http://schemas.openxmlformats.org/drawingml/2006/main">
              <a:ext uri="{FF2B5EF4-FFF2-40B4-BE49-F238E27FC236}">
                <a16:creationId xmlns:a16="http://schemas.microsoft.com/office/drawing/2014/main" id="{28ACF19D-4398-412F-B66F-968AB35E3F10}"/>
              </a:ext>
            </a:extLst>
          </p:cNvPr>
          <p:cNvSpPr>
            <a:spLocks xmlns:a="http://schemas.openxmlformats.org/drawingml/2006/main" noGrp="1"/>
          </p:cNvSpPr>
          <p:nvPr/>
        </p:nvSpPr>
        <p:spPr>
          <a:xfrm xmlns:a="http://schemas.openxmlformats.org/drawingml/2006/main">
            <a:off x="619125" y="37433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A + B, assignments [A, A, B]:   7 + 0 = 7     ACCEPT</a:t>
            </a:r>
          </a:p>
        </p:txBody>
      </p:sp>
      <p:sp>
        <p:nvSpPr>
          <p:cNvPr id="5" name="">
            <a:extLst xmlns:a="http://schemas.openxmlformats.org/drawingml/2006/main">
              <a:ext uri="{FF2B5EF4-FFF2-40B4-BE49-F238E27FC236}">
                <a16:creationId xmlns:a16="http://schemas.microsoft.com/office/drawing/2014/main" id="{F4AE8A9B-EA32-44B4-B40A-17CE9B0A42B6}"/>
              </a:ext>
            </a:extLst>
          </p:cNvPr>
          <p:cNvSpPr>
            <a:spLocks xmlns:a="http://schemas.openxmlformats.org/drawingml/2006/main" noGrp="1"/>
          </p:cNvSpPr>
          <p:nvPr/>
        </p:nvSpPr>
        <p:spPr>
          <a:xfrm xmlns:a="http://schemas.openxmlformats.org/drawingml/2006/main">
            <a:off x="619125" y="43815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D3B"/>
                </a:solidFill>
                <a:latin typeface="Arial"/>
                <a:ea typeface="Arial"/>
                <a:cs typeface="Arial"/>
              </a:defRPr>
            </a:pPr>
            <a:r>
              <a:rPr sz="2325" b="1">
                <a:solidFill>
                  <a:srgbClr val="142D3B"/>
                </a:solidFill>
                <a:latin typeface="Arial"/>
                <a:ea typeface="Arial"/>
                <a:cs typeface="Arial"/>
              </a:rPr>
              <a:t>A alone, assignments [A, A, A]:   3 + 9 = 12     REJECT</a:t>
            </a:r>
          </a:p>
        </p:txBody>
      </p:sp>
      <p:sp>
        <p:nvSpPr>
          <p:cNvPr id="6" name="">
            <a:extLst xmlns:a="http://schemas.openxmlformats.org/drawingml/2006/main">
              <a:ext uri="{FF2B5EF4-FFF2-40B4-BE49-F238E27FC236}">
                <a16:creationId xmlns:a16="http://schemas.microsoft.com/office/drawing/2014/main" id="{58A5B641-39DB-4552-B960-25275AD7EC27}"/>
              </a:ext>
            </a:extLst>
          </p:cNvPr>
          <p:cNvSpPr>
            <a:spLocks xmlns:a="http://schemas.openxmlformats.org/drawingml/2006/main" noGrp="1"/>
          </p:cNvSpPr>
          <p:nvPr/>
        </p:nvSpPr>
        <p:spPr>
          <a:xfrm xmlns:a="http://schemas.openxmlformats.org/drawingml/2006/main">
            <a:off x="619125"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Checking a supplied answer takes O(s + r) operations.</a:t>
            </a:r>
          </a:p>
        </p:txBody>
      </p:sp>
      <p:sp>
        <p:nvSpPr>
          <p:cNvPr id="7" name="">
            <a:extLst xmlns:a="http://schemas.openxmlformats.org/drawingml/2006/main">
              <a:ext uri="{FF2B5EF4-FFF2-40B4-BE49-F238E27FC236}">
                <a16:creationId xmlns:a16="http://schemas.microsoft.com/office/drawing/2014/main" id="{B4DFE1FE-849C-4A16-9679-8E5D51447B3A}"/>
              </a:ext>
            </a:extLst>
          </p:cNvPr>
          <p:cNvSpPr>
            <a:spLocks xmlns:a="http://schemas.openxmlformats.org/drawingml/2006/main" noGrp="1"/>
          </p:cNvSpPr>
          <p:nvPr/>
        </p:nvSpPr>
        <p:spPr>
          <a:xfrm xmlns:a="http://schemas.openxmlformats.org/drawingml/2006/main">
            <a:off x="619125" y="58674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E6572"/>
                </a:solidFill>
                <a:latin typeface="Arial"/>
                <a:ea typeface="Arial"/>
                <a:cs typeface="Arial"/>
              </a:defRPr>
            </a:pPr>
            <a:r>
              <a:rPr sz="1950" b="0">
                <a:solidFill>
                  <a:srgbClr val="4E6572"/>
                </a:solidFill>
                <a:latin typeface="Arial"/>
                <a:ea typeface="Arial"/>
                <a:cs typeface="Arial"/>
              </a:rPr>
              <a:t>Acceptance establishes feasibility. Optimality needs more work.</a:t>
            </a:r>
          </a:p>
        </p:txBody>
      </p:sp>
    </p:spTree>
    <p:extLst>
      <p:ext uri="{BB962C8B-B14F-4D97-AF65-F5344CB8AC3E}">
        <p14:creationId xmlns:p14="http://schemas.microsoft.com/office/powerpoint/2010/main" val="177871534"/>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F9469C-5521-4073-905F-81B08C545D2E}"/>
              </a:ext>
            </a:extLst>
          </p:cNvPr>
          <p:cNvSpPr>
            <a:spLocks xmlns:a="http://schemas.openxmlformats.org/drawingml/2006/main" noGrp="1"/>
          </p:cNvSpPr>
          <p:nvPr/>
        </p:nvSpPr>
        <p:spPr>
          <a:xfrm xmlns:a="http://schemas.openxmlformats.org/drawingml/2006/main">
            <a:off x="619125"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3B"/>
                </a:solidFill>
                <a:latin typeface="Arial"/>
                <a:ea typeface="Arial"/>
                <a:cs typeface="Arial"/>
              </a:defRPr>
            </a:pPr>
            <a:r>
              <a:rPr sz="3450" b="1">
                <a:solidFill>
                  <a:srgbClr val="142D3B"/>
                </a:solidFill>
                <a:latin typeface="Arial"/>
                <a:ea typeface="Arial"/>
                <a:cs typeface="Arial"/>
              </a:rPr>
              <a:t>Brute force tries every subset</a:t>
            </a:r>
          </a:p>
        </p:txBody>
      </p:sp>
      <p:sp>
        <p:nvSpPr>
          <p:cNvPr id="2" name="">
            <a:extLst xmlns:a="http://schemas.openxmlformats.org/drawingml/2006/main">
              <a:ext uri="{FF2B5EF4-FFF2-40B4-BE49-F238E27FC236}">
                <a16:creationId xmlns:a16="http://schemas.microsoft.com/office/drawing/2014/main" id="{677E548D-682E-4D9E-BF50-5C94C4ECB47C}"/>
              </a:ext>
            </a:extLst>
          </p:cNvPr>
          <p:cNvSpPr>
            <a:spLocks xmlns:a="http://schemas.openxmlformats.org/drawingml/2006/main" noGrp="1"/>
          </p:cNvSpPr>
          <p:nvPr/>
        </p:nvSpPr>
        <p:spPr>
          <a:xfrm xmlns:a="http://schemas.openxmlformats.org/drawingml/2006/main">
            <a:off x="619125" y="1304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D3B"/>
                </a:solidFill>
                <a:latin typeface="Arial"/>
                <a:ea typeface="Arial"/>
                <a:cs typeface="Arial"/>
              </a:defRPr>
            </a:pPr>
            <a:r>
              <a:rPr sz="2400" b="0">
                <a:solidFill>
                  <a:srgbClr val="142D3B"/>
                </a:solidFill>
                <a:latin typeface="Arial"/>
                <a:ea typeface="Arial"/>
                <a:cs typeface="Arial"/>
              </a:rPr>
              <a:t>Each station is open or closed: 2 choices per site.</a:t>
            </a:r>
          </a:p>
        </p:txBody>
      </p:sp>
      <p:sp>
        <p:nvSpPr>
          <p:cNvPr id="3" name="">
            <a:extLst xmlns:a="http://schemas.openxmlformats.org/drawingml/2006/main">
              <a:ext uri="{FF2B5EF4-FFF2-40B4-BE49-F238E27FC236}">
                <a16:creationId xmlns:a16="http://schemas.microsoft.com/office/drawing/2014/main" id="{6F31D06B-38C1-41D4-9731-15C9970CCA7A}"/>
              </a:ext>
            </a:extLst>
          </p:cNvPr>
          <p:cNvSpPr>
            <a:spLocks xmlns:a="http://schemas.openxmlformats.org/drawingml/2006/main" noGrp="1"/>
          </p:cNvSpPr>
          <p:nvPr/>
        </p:nvSpPr>
        <p:spPr>
          <a:xfrm xmlns:a="http://schemas.openxmlformats.org/drawingml/2006/main">
            <a:off x="619125" y="2057400"/>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87E8B"/>
                </a:solidFill>
                <a:latin typeface="Arial"/>
                <a:ea typeface="Arial"/>
                <a:cs typeface="Arial"/>
              </a:defRPr>
            </a:pPr>
            <a:r>
              <a:rPr sz="4950" b="1">
                <a:solidFill>
                  <a:srgbClr val="087E8B"/>
                </a:solidFill>
                <a:latin typeface="Arial"/>
                <a:ea typeface="Arial"/>
                <a:cs typeface="Arial"/>
              </a:rPr>
              <a:t>2ˢ subsets</a:t>
            </a:r>
          </a:p>
        </p:txBody>
      </p:sp>
      <p:sp>
        <p:nvSpPr>
          <p:cNvPr id="4" name="">
            <a:extLst xmlns:a="http://schemas.openxmlformats.org/drawingml/2006/main">
              <a:ext uri="{FF2B5EF4-FFF2-40B4-BE49-F238E27FC236}">
                <a16:creationId xmlns:a16="http://schemas.microsoft.com/office/drawing/2014/main" id="{0ADB5864-FED8-46CB-A596-C39B2455E871}"/>
              </a:ext>
            </a:extLst>
          </p:cNvPr>
          <p:cNvSpPr>
            <a:spLocks xmlns:a="http://schemas.openxmlformats.org/drawingml/2006/main" noGrp="1"/>
          </p:cNvSpPr>
          <p:nvPr/>
        </p:nvSpPr>
        <p:spPr>
          <a:xfrm xmlns:a="http://schemas.openxmlformats.org/drawingml/2006/main">
            <a:off x="6286500" y="2076450"/>
            <a:ext cx="528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3 sites: 8 subsets</a:t>
            </a:r>
          </a:p>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30 sites: 1,073,741,824 subsets</a:t>
            </a:r>
          </a:p>
        </p:txBody>
      </p:sp>
      <p:sp>
        <p:nvSpPr>
          <p:cNvPr id="5" name="">
            <a:extLst xmlns:a="http://schemas.openxmlformats.org/drawingml/2006/main">
              <a:ext uri="{FF2B5EF4-FFF2-40B4-BE49-F238E27FC236}">
                <a16:creationId xmlns:a16="http://schemas.microsoft.com/office/drawing/2014/main" id="{85FE1922-C657-49C7-ACD7-FF13BD5EBF66}"/>
              </a:ext>
            </a:extLst>
          </p:cNvPr>
          <p:cNvSpPr>
            <a:spLocks xmlns:a="http://schemas.openxmlformats.org/drawingml/2006/main" noGrp="1"/>
          </p:cNvSpPr>
          <p:nvPr/>
        </p:nvSpPr>
        <p:spPr>
          <a:xfrm xmlns:a="http://schemas.openxmlformats.org/drawingml/2006/main">
            <a:off x="619125" y="32480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E6572"/>
                </a:solidFill>
                <a:latin typeface="Arial"/>
                <a:ea typeface="Arial"/>
                <a:cs typeface="Arial"/>
              </a:defRPr>
            </a:pPr>
            <a:r>
              <a:rPr sz="2100" b="0">
                <a:solidFill>
                  <a:srgbClr val="4E6572"/>
                </a:solidFill>
                <a:latin typeface="Arial"/>
                <a:ea typeface="Arial"/>
                <a:cs typeface="Arial"/>
              </a:rPr>
              <a:t>For A, B, C:   none, A, B, C, AB, AC, BC, ABC</a:t>
            </a:r>
          </a:p>
        </p:txBody>
      </p:sp>
      <p:sp>
        <p:nvSpPr>
          <p:cNvPr id="6" name="">
            <a:extLst xmlns:a="http://schemas.openxmlformats.org/drawingml/2006/main">
              <a:ext uri="{FF2B5EF4-FFF2-40B4-BE49-F238E27FC236}">
                <a16:creationId xmlns:a16="http://schemas.microsoft.com/office/drawing/2014/main" id="{75C2EB1A-0D63-4992-8E44-B3703F6BF29B}"/>
              </a:ext>
            </a:extLst>
          </p:cNvPr>
          <p:cNvSpPr>
            <a:spLocks xmlns:a="http://schemas.openxmlformats.org/drawingml/2006/main" noGrp="1"/>
          </p:cNvSpPr>
          <p:nvPr/>
        </p:nvSpPr>
        <p:spPr>
          <a:xfrm xmlns:a="http://schemas.openxmlformats.org/drawingml/2006/main">
            <a:off x="619125" y="397192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For each nonempty subset, assign every region to its</a:t>
            </a:r>
          </a:p>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cheapest open station. Add service and activation costs.</a:t>
            </a:r>
          </a:p>
        </p:txBody>
      </p:sp>
      <p:sp>
        <p:nvSpPr>
          <p:cNvPr id="7" name="">
            <a:extLst xmlns:a="http://schemas.openxmlformats.org/drawingml/2006/main">
              <a:ext uri="{FF2B5EF4-FFF2-40B4-BE49-F238E27FC236}">
                <a16:creationId xmlns:a16="http://schemas.microsoft.com/office/drawing/2014/main" id="{16F28EA4-3AAA-4482-9768-AD7BEF891CE7}"/>
              </a:ext>
            </a:extLst>
          </p:cNvPr>
          <p:cNvSpPr>
            <a:spLocks xmlns:a="http://schemas.openxmlformats.org/drawingml/2006/main" noGrp="1"/>
          </p:cNvSpPr>
          <p:nvPr/>
        </p:nvSpPr>
        <p:spPr>
          <a:xfrm xmlns:a="http://schemas.openxmlformats.org/drawingml/2006/main">
            <a:off x="619125" y="5267325"/>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Work per subset: O(sr + s)</a:t>
            </a:r>
          </a:p>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Worst-case total: O(2ˢ × (sr + s))</a:t>
            </a:r>
          </a:p>
        </p:txBody>
      </p:sp>
    </p:spTree>
    <p:extLst>
      <p:ext uri="{BB962C8B-B14F-4D97-AF65-F5344CB8AC3E}">
        <p14:creationId xmlns:p14="http://schemas.microsoft.com/office/powerpoint/2010/main" val="1137894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2026-10-02T14:04:05.6830000Z</dcterms:created>
  <dcterms:modified xsi:type="dcterms:W3CDTF">2026-10-02T14:04:05.6830000Z</dcterms:modified>
</coreProperties>
</file>